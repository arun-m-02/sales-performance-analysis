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Open Sauce Bold" charset="1" panose="00000800000000000000"/>
      <p:regular r:id="rId22"/>
    </p:embeddedFont>
    <p:embeddedFont>
      <p:font typeface="Calibri (MS) Bold" charset="1" panose="020F0702030404030204"/>
      <p:regular r:id="rId23"/>
    </p:embeddedFont>
    <p:embeddedFont>
      <p:font typeface="Calibri (MS) Light" charset="1" panose="020F0302020204030204"/>
      <p:regular r:id="rId24"/>
    </p:embeddedFont>
    <p:embeddedFont>
      <p:font typeface="Open Sauce" charset="1" panose="00000500000000000000"/>
      <p:regular r:id="rId25"/>
    </p:embeddedFont>
    <p:embeddedFont>
      <p:font typeface="Calibri (MS)" charset="1" panose="020F050202020403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7600950" y="360045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1B4F"/>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12" id="12"/>
          <p:cNvSpPr/>
          <p:nvPr/>
        </p:nvSpPr>
        <p:spPr>
          <a:xfrm flipH="false" flipV="false" rot="0">
            <a:off x="812417" y="667859"/>
            <a:ext cx="16773335" cy="9351134"/>
          </a:xfrm>
          <a:custGeom>
            <a:avLst/>
            <a:gdLst/>
            <a:ahLst/>
            <a:cxnLst/>
            <a:rect r="r" b="b" t="t" l="l"/>
            <a:pathLst>
              <a:path h="9351134" w="16773335">
                <a:moveTo>
                  <a:pt x="0" y="0"/>
                </a:moveTo>
                <a:lnTo>
                  <a:pt x="16773335" y="0"/>
                </a:lnTo>
                <a:lnTo>
                  <a:pt x="16773335" y="9351134"/>
                </a:lnTo>
                <a:lnTo>
                  <a:pt x="0" y="9351134"/>
                </a:lnTo>
                <a:lnTo>
                  <a:pt x="0" y="0"/>
                </a:lnTo>
                <a:close/>
              </a:path>
            </a:pathLst>
          </a:custGeom>
          <a:blipFill>
            <a:blip r:embed="rId3"/>
            <a:stretch>
              <a:fillRect l="0" t="0" r="0" b="0"/>
            </a:stretch>
          </a:blipFill>
        </p:spPr>
      </p:sp>
      <p:sp>
        <p:nvSpPr>
          <p:cNvPr name="TextBox 13" id="13"/>
          <p:cNvSpPr txBox="true"/>
          <p:nvPr/>
        </p:nvSpPr>
        <p:spPr>
          <a:xfrm rot="0">
            <a:off x="6859802" y="166889"/>
            <a:ext cx="4181662" cy="381381"/>
          </a:xfrm>
          <a:prstGeom prst="rect">
            <a:avLst/>
          </a:prstGeom>
        </p:spPr>
        <p:txBody>
          <a:bodyPr anchor="t" rtlCol="false" tIns="0" lIns="0" bIns="0" rIns="0">
            <a:spAutoFit/>
          </a:bodyPr>
          <a:lstStyle/>
          <a:p>
            <a:pPr algn="r">
              <a:lnSpc>
                <a:spcPts val="3041"/>
              </a:lnSpc>
            </a:pPr>
            <a:r>
              <a:rPr lang="en-US" b="true" sz="2599" spc="-109">
                <a:solidFill>
                  <a:srgbClr val="FFFFFF"/>
                </a:solidFill>
                <a:latin typeface="Open Sauce Bold"/>
                <a:ea typeface="Open Sauce Bold"/>
                <a:cs typeface="Open Sauce Bold"/>
                <a:sym typeface="Open Sauce Bold"/>
              </a:rPr>
              <a:t>📌 EXECUTIVE OVERVIEW</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7600950" y="360045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1B4F"/>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12" id="12"/>
          <p:cNvSpPr/>
          <p:nvPr/>
        </p:nvSpPr>
        <p:spPr>
          <a:xfrm flipH="false" flipV="false" rot="0">
            <a:off x="1028700" y="777847"/>
            <a:ext cx="16574509" cy="9219570"/>
          </a:xfrm>
          <a:custGeom>
            <a:avLst/>
            <a:gdLst/>
            <a:ahLst/>
            <a:cxnLst/>
            <a:rect r="r" b="b" t="t" l="l"/>
            <a:pathLst>
              <a:path h="9219570" w="16574509">
                <a:moveTo>
                  <a:pt x="0" y="0"/>
                </a:moveTo>
                <a:lnTo>
                  <a:pt x="16574509" y="0"/>
                </a:lnTo>
                <a:lnTo>
                  <a:pt x="16574509" y="9219571"/>
                </a:lnTo>
                <a:lnTo>
                  <a:pt x="0" y="9219571"/>
                </a:lnTo>
                <a:lnTo>
                  <a:pt x="0" y="0"/>
                </a:lnTo>
                <a:close/>
              </a:path>
            </a:pathLst>
          </a:custGeom>
          <a:blipFill>
            <a:blip r:embed="rId3"/>
            <a:stretch>
              <a:fillRect l="0" t="0" r="0" b="0"/>
            </a:stretch>
          </a:blipFill>
        </p:spPr>
      </p:sp>
      <p:sp>
        <p:nvSpPr>
          <p:cNvPr name="TextBox 13" id="13"/>
          <p:cNvSpPr txBox="true"/>
          <p:nvPr/>
        </p:nvSpPr>
        <p:spPr>
          <a:xfrm rot="0">
            <a:off x="6859802" y="166889"/>
            <a:ext cx="5522139" cy="381381"/>
          </a:xfrm>
          <a:prstGeom prst="rect">
            <a:avLst/>
          </a:prstGeom>
        </p:spPr>
        <p:txBody>
          <a:bodyPr anchor="t" rtlCol="false" tIns="0" lIns="0" bIns="0" rIns="0">
            <a:spAutoFit/>
          </a:bodyPr>
          <a:lstStyle/>
          <a:p>
            <a:pPr algn="r">
              <a:lnSpc>
                <a:spcPts val="3041"/>
              </a:lnSpc>
            </a:pPr>
            <a:r>
              <a:rPr lang="en-US" b="true" sz="2599" spc="-109">
                <a:solidFill>
                  <a:srgbClr val="FFFFFF"/>
                </a:solidFill>
                <a:latin typeface="Open Sauce Bold"/>
                <a:ea typeface="Open Sauce Bold"/>
                <a:cs typeface="Open Sauce Bold"/>
                <a:sym typeface="Open Sauce Bold"/>
              </a:rPr>
              <a:t>📈 Sales Trend &amp; Seasonality Sales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sp>
        <p:nvSpPr>
          <p:cNvPr name="TextBox 3" id="3"/>
          <p:cNvSpPr txBox="true"/>
          <p:nvPr/>
        </p:nvSpPr>
        <p:spPr>
          <a:xfrm rot="0">
            <a:off x="1824604" y="1866025"/>
            <a:ext cx="3580493" cy="1432617"/>
          </a:xfrm>
          <a:prstGeom prst="rect">
            <a:avLst/>
          </a:prstGeom>
        </p:spPr>
        <p:txBody>
          <a:bodyPr anchor="t" rtlCol="false" tIns="0" lIns="0" bIns="0" rIns="0">
            <a:spAutoFit/>
          </a:bodyPr>
          <a:lstStyle/>
          <a:p>
            <a:pPr algn="l">
              <a:lnSpc>
                <a:spcPts val="4937"/>
              </a:lnSpc>
            </a:pPr>
            <a:r>
              <a:rPr lang="en-US" sz="5741" spc="-269" b="true">
                <a:solidFill>
                  <a:srgbClr val="FFFFFF"/>
                </a:solidFill>
                <a:latin typeface="Calibri (MS) Bold"/>
                <a:ea typeface="Calibri (MS) Bold"/>
                <a:cs typeface="Calibri (MS) Bold"/>
                <a:sym typeface="Calibri (MS) Bold"/>
              </a:rPr>
              <a:t>Executive Summary</a:t>
            </a:r>
          </a:p>
        </p:txBody>
      </p:sp>
      <p:sp>
        <p:nvSpPr>
          <p:cNvPr name="TextBox 4" id="4"/>
          <p:cNvSpPr txBox="true"/>
          <p:nvPr/>
        </p:nvSpPr>
        <p:spPr>
          <a:xfrm rot="0">
            <a:off x="3916877" y="3973162"/>
            <a:ext cx="5566436" cy="1052703"/>
          </a:xfrm>
          <a:prstGeom prst="rect">
            <a:avLst/>
          </a:prstGeom>
        </p:spPr>
        <p:txBody>
          <a:bodyPr anchor="t" rtlCol="false" tIns="0" lIns="0" bIns="0" rIns="0">
            <a:spAutoFit/>
          </a:bodyPr>
          <a:lstStyle/>
          <a:p>
            <a:pPr algn="l">
              <a:lnSpc>
                <a:spcPts val="3905"/>
              </a:lnSpc>
            </a:pPr>
            <a:r>
              <a:rPr lang="en-US" sz="3099" spc="-173">
                <a:solidFill>
                  <a:srgbClr val="FFFFFF"/>
                </a:solidFill>
                <a:latin typeface="Calibri (MS) Light"/>
                <a:ea typeface="Calibri (MS) Light"/>
                <a:cs typeface="Calibri (MS) Light"/>
                <a:sym typeface="Calibri (MS) Light"/>
              </a:rPr>
              <a:t>Provided recommendations for product improvement and promotion</a:t>
            </a:r>
          </a:p>
        </p:txBody>
      </p:sp>
      <p:grpSp>
        <p:nvGrpSpPr>
          <p:cNvPr name="Group 5" id="5"/>
          <p:cNvGrpSpPr/>
          <p:nvPr/>
        </p:nvGrpSpPr>
        <p:grpSpPr>
          <a:xfrm rot="566727">
            <a:off x="10723560" y="-4826045"/>
            <a:ext cx="11215742" cy="1121574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7" id="7"/>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8" id="8"/>
          <p:cNvGrpSpPr/>
          <p:nvPr/>
        </p:nvGrpSpPr>
        <p:grpSpPr>
          <a:xfrm rot="566727">
            <a:off x="12737741" y="-2526351"/>
            <a:ext cx="7530780" cy="753078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10" id="10"/>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TextBox 11" id="11"/>
          <p:cNvSpPr txBox="true"/>
          <p:nvPr/>
        </p:nvSpPr>
        <p:spPr>
          <a:xfrm rot="0">
            <a:off x="13737543" y="8940165"/>
            <a:ext cx="3450154" cy="318135"/>
          </a:xfrm>
          <a:prstGeom prst="rect">
            <a:avLst/>
          </a:prstGeom>
        </p:spPr>
        <p:txBody>
          <a:bodyPr anchor="t" rtlCol="false" tIns="0" lIns="0" bIns="0" rIns="0">
            <a:spAutoFit/>
          </a:bodyPr>
          <a:lstStyle/>
          <a:p>
            <a:pPr algn="r">
              <a:lnSpc>
                <a:spcPts val="2520"/>
              </a:lnSpc>
            </a:pPr>
            <a:r>
              <a:rPr lang="en-US" sz="2000" spc="-112">
                <a:solidFill>
                  <a:srgbClr val="FFFFFF"/>
                </a:solidFill>
                <a:latin typeface="Open Sauce"/>
                <a:ea typeface="Open Sauce"/>
                <a:cs typeface="Open Sauce"/>
                <a:sym typeface="Open Sauce"/>
              </a:rPr>
              <a:t>Arun M</a:t>
            </a:r>
          </a:p>
        </p:txBody>
      </p:sp>
      <p:sp>
        <p:nvSpPr>
          <p:cNvPr name="TextBox 12" id="12"/>
          <p:cNvSpPr txBox="true"/>
          <p:nvPr/>
        </p:nvSpPr>
        <p:spPr>
          <a:xfrm rot="0">
            <a:off x="13737543" y="8577022"/>
            <a:ext cx="3450154" cy="281559"/>
          </a:xfrm>
          <a:prstGeom prst="rect">
            <a:avLst/>
          </a:prstGeom>
        </p:spPr>
        <p:txBody>
          <a:bodyPr anchor="t" rtlCol="false" tIns="0" lIns="0" bIns="0" rIns="0">
            <a:spAutoFit/>
          </a:bodyPr>
          <a:lstStyle/>
          <a:p>
            <a:pPr algn="r">
              <a:lnSpc>
                <a:spcPts val="2268"/>
              </a:lnSpc>
            </a:pPr>
            <a:r>
              <a:rPr lang="en-US" b="true" sz="1800" spc="-100">
                <a:solidFill>
                  <a:srgbClr val="FFFFFF"/>
                </a:solidFill>
                <a:latin typeface="Open Sauce Bold"/>
                <a:ea typeface="Open Sauce Bold"/>
                <a:cs typeface="Open Sauce Bold"/>
                <a:sym typeface="Open Sauce Bold"/>
              </a:rPr>
              <a:t>Presented by :</a:t>
            </a:r>
          </a:p>
        </p:txBody>
      </p:sp>
      <p:sp>
        <p:nvSpPr>
          <p:cNvPr name="TextBox 13" id="13"/>
          <p:cNvSpPr txBox="true"/>
          <p:nvPr/>
        </p:nvSpPr>
        <p:spPr>
          <a:xfrm rot="0">
            <a:off x="3916877" y="5476061"/>
            <a:ext cx="4300203" cy="907976"/>
          </a:xfrm>
          <a:prstGeom prst="rect">
            <a:avLst/>
          </a:prstGeom>
        </p:spPr>
        <p:txBody>
          <a:bodyPr anchor="t" rtlCol="false" tIns="0" lIns="0" bIns="0" rIns="0">
            <a:spAutoFit/>
          </a:bodyPr>
          <a:lstStyle/>
          <a:p>
            <a:pPr algn="l" marL="539749" indent="-269875" lvl="1">
              <a:lnSpc>
                <a:spcPts val="3499"/>
              </a:lnSpc>
              <a:spcBef>
                <a:spcPct val="0"/>
              </a:spcBef>
              <a:buAutoNum type="arabicPeriod" startAt="1"/>
            </a:pPr>
            <a:r>
              <a:rPr lang="en-US" sz="2499" spc="-187">
                <a:solidFill>
                  <a:srgbClr val="FFFFFF"/>
                </a:solidFill>
                <a:latin typeface="Calibri (MS)"/>
                <a:ea typeface="Calibri (MS)"/>
                <a:cs typeface="Calibri (MS)"/>
                <a:sym typeface="Calibri (MS)"/>
              </a:rPr>
              <a:t> </a:t>
            </a:r>
            <a:r>
              <a:rPr lang="en-US" sz="2499" spc="-187">
                <a:solidFill>
                  <a:srgbClr val="FFFFFF"/>
                </a:solidFill>
                <a:latin typeface="Calibri (MS)"/>
                <a:ea typeface="Calibri (MS)"/>
                <a:cs typeface="Calibri (MS)"/>
                <a:sym typeface="Calibri (MS)"/>
              </a:rPr>
              <a:t>📌 Executive Overview </a:t>
            </a:r>
          </a:p>
          <a:p>
            <a:pPr algn="l" marL="539749" indent="-269875" lvl="1">
              <a:lnSpc>
                <a:spcPts val="3499"/>
              </a:lnSpc>
              <a:spcBef>
                <a:spcPct val="0"/>
              </a:spcBef>
              <a:buAutoNum type="arabicPeriod" startAt="1"/>
            </a:pPr>
            <a:r>
              <a:rPr lang="en-US" sz="2499" spc="-187">
                <a:solidFill>
                  <a:srgbClr val="FFFFFF"/>
                </a:solidFill>
                <a:latin typeface="Calibri (MS)"/>
                <a:ea typeface="Calibri (MS)"/>
                <a:cs typeface="Calibri (MS)"/>
                <a:sym typeface="Calibri (MS)"/>
              </a:rPr>
              <a:t>📈 Sales Trend &amp; Seasonality sales.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22" r="0" b="-9222"/>
            </a:stretch>
          </a:blipFill>
        </p:spPr>
      </p:sp>
      <p:grpSp>
        <p:nvGrpSpPr>
          <p:cNvPr name="Group 3" id="3"/>
          <p:cNvGrpSpPr/>
          <p:nvPr/>
        </p:nvGrpSpPr>
        <p:grpSpPr>
          <a:xfrm rot="566727">
            <a:off x="10895260" y="-4368833"/>
            <a:ext cx="11215742" cy="1121574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6" id="6"/>
          <p:cNvGrpSpPr/>
          <p:nvPr/>
        </p:nvGrpSpPr>
        <p:grpSpPr>
          <a:xfrm rot="566727">
            <a:off x="12737741" y="-2526351"/>
            <a:ext cx="7530780" cy="7530780"/>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sp>
        <p:nvSpPr>
          <p:cNvPr name="Freeform 9" id="9"/>
          <p:cNvSpPr/>
          <p:nvPr/>
        </p:nvSpPr>
        <p:spPr>
          <a:xfrm flipH="false" flipV="false" rot="0">
            <a:off x="3552614" y="852696"/>
            <a:ext cx="10415133" cy="7824369"/>
          </a:xfrm>
          <a:custGeom>
            <a:avLst/>
            <a:gdLst/>
            <a:ahLst/>
            <a:cxnLst/>
            <a:rect r="r" b="b" t="t" l="l"/>
            <a:pathLst>
              <a:path h="7824369" w="10415133">
                <a:moveTo>
                  <a:pt x="0" y="0"/>
                </a:moveTo>
                <a:lnTo>
                  <a:pt x="10415133" y="0"/>
                </a:lnTo>
                <a:lnTo>
                  <a:pt x="10415133" y="7824368"/>
                </a:lnTo>
                <a:lnTo>
                  <a:pt x="0" y="7824368"/>
                </a:lnTo>
                <a:lnTo>
                  <a:pt x="0" y="0"/>
                </a:lnTo>
                <a:close/>
              </a:path>
            </a:pathLst>
          </a:custGeom>
          <a:blipFill>
            <a:blip r:embed="rId3"/>
            <a:stretch>
              <a:fillRect l="0" t="0" r="0" b="0"/>
            </a:stretch>
          </a:blipFill>
        </p:spPr>
      </p:sp>
      <p:sp>
        <p:nvSpPr>
          <p:cNvPr name="TextBox 10" id="10"/>
          <p:cNvSpPr txBox="true"/>
          <p:nvPr/>
        </p:nvSpPr>
        <p:spPr>
          <a:xfrm rot="0">
            <a:off x="7424087" y="145696"/>
            <a:ext cx="1876360" cy="557403"/>
          </a:xfrm>
          <a:prstGeom prst="rect">
            <a:avLst/>
          </a:prstGeom>
        </p:spPr>
        <p:txBody>
          <a:bodyPr anchor="t" rtlCol="false" tIns="0" lIns="0" bIns="0" rIns="0">
            <a:spAutoFit/>
          </a:bodyPr>
          <a:lstStyle/>
          <a:p>
            <a:pPr algn="l">
              <a:lnSpc>
                <a:spcPts val="3905"/>
              </a:lnSpc>
            </a:pPr>
            <a:r>
              <a:rPr lang="en-US" sz="3099" spc="-173" b="true">
                <a:solidFill>
                  <a:srgbClr val="FFFFFF"/>
                </a:solidFill>
                <a:latin typeface="Calibri (MS) Bold"/>
                <a:ea typeface="Calibri (MS) Bold"/>
                <a:cs typeface="Calibri (MS) Bold"/>
                <a:sym typeface="Calibri (MS) Bold"/>
              </a:rPr>
              <a:t>Star Schema </a:t>
            </a:r>
          </a:p>
        </p:txBody>
      </p:sp>
      <p:sp>
        <p:nvSpPr>
          <p:cNvPr name="TextBox 11" id="11"/>
          <p:cNvSpPr txBox="true"/>
          <p:nvPr/>
        </p:nvSpPr>
        <p:spPr>
          <a:xfrm rot="0">
            <a:off x="2701078" y="8759986"/>
            <a:ext cx="12118205" cy="1275588"/>
          </a:xfrm>
          <a:prstGeom prst="rect">
            <a:avLst/>
          </a:prstGeom>
        </p:spPr>
        <p:txBody>
          <a:bodyPr anchor="t" rtlCol="false" tIns="0" lIns="0" bIns="0" rIns="0">
            <a:spAutoFit/>
          </a:bodyPr>
          <a:lstStyle/>
          <a:p>
            <a:pPr algn="l">
              <a:lnSpc>
                <a:spcPts val="3275"/>
              </a:lnSpc>
            </a:pPr>
            <a:r>
              <a:rPr lang="en-US" sz="2599" spc="-145">
                <a:solidFill>
                  <a:srgbClr val="FFFFFF"/>
                </a:solidFill>
                <a:latin typeface="Calibri (MS)"/>
                <a:ea typeface="Calibri (MS)"/>
                <a:cs typeface="Calibri (MS)"/>
                <a:sym typeface="Calibri (MS)"/>
              </a:rPr>
              <a:t>This is primarily a Star Schema with two fact tables (Sales and Returns) connected to multiple dimension tables like Customers, Products, and Dates. Some dimensions are slightly normalized, making it a hybrid star-snowflake model.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7600950" y="360045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1B4F"/>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12" id="12"/>
          <p:cNvSpPr/>
          <p:nvPr/>
        </p:nvSpPr>
        <p:spPr>
          <a:xfrm flipH="false" flipV="false" rot="0">
            <a:off x="812417" y="667859"/>
            <a:ext cx="16773335" cy="9351134"/>
          </a:xfrm>
          <a:custGeom>
            <a:avLst/>
            <a:gdLst/>
            <a:ahLst/>
            <a:cxnLst/>
            <a:rect r="r" b="b" t="t" l="l"/>
            <a:pathLst>
              <a:path h="9351134" w="16773335">
                <a:moveTo>
                  <a:pt x="0" y="0"/>
                </a:moveTo>
                <a:lnTo>
                  <a:pt x="16773335" y="0"/>
                </a:lnTo>
                <a:lnTo>
                  <a:pt x="16773335" y="9351134"/>
                </a:lnTo>
                <a:lnTo>
                  <a:pt x="0" y="9351134"/>
                </a:lnTo>
                <a:lnTo>
                  <a:pt x="0" y="0"/>
                </a:lnTo>
                <a:close/>
              </a:path>
            </a:pathLst>
          </a:custGeom>
          <a:blipFill>
            <a:blip r:embed="rId3"/>
            <a:stretch>
              <a:fillRect l="0" t="0" r="0" b="0"/>
            </a:stretch>
          </a:blipFill>
        </p:spPr>
      </p:sp>
      <p:sp>
        <p:nvSpPr>
          <p:cNvPr name="TextBox 13" id="13"/>
          <p:cNvSpPr txBox="true"/>
          <p:nvPr/>
        </p:nvSpPr>
        <p:spPr>
          <a:xfrm rot="0">
            <a:off x="6859802" y="166889"/>
            <a:ext cx="4181662" cy="381381"/>
          </a:xfrm>
          <a:prstGeom prst="rect">
            <a:avLst/>
          </a:prstGeom>
        </p:spPr>
        <p:txBody>
          <a:bodyPr anchor="t" rtlCol="false" tIns="0" lIns="0" bIns="0" rIns="0">
            <a:spAutoFit/>
          </a:bodyPr>
          <a:lstStyle/>
          <a:p>
            <a:pPr algn="r">
              <a:lnSpc>
                <a:spcPts val="3041"/>
              </a:lnSpc>
            </a:pPr>
            <a:r>
              <a:rPr lang="en-US" b="true" sz="2599" spc="-109">
                <a:solidFill>
                  <a:srgbClr val="FFFFFF"/>
                </a:solidFill>
                <a:latin typeface="Open Sauce Bold"/>
                <a:ea typeface="Open Sauce Bold"/>
                <a:cs typeface="Open Sauce Bold"/>
                <a:sym typeface="Open Sauce Bold"/>
              </a:rPr>
              <a:t>📌 EXECUTIVE OVERVIEW</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159678" y="1587077"/>
            <a:ext cx="6254966" cy="4301939"/>
          </a:xfrm>
          <a:custGeom>
            <a:avLst/>
            <a:gdLst/>
            <a:ahLst/>
            <a:cxnLst/>
            <a:rect r="r" b="b" t="t" l="l"/>
            <a:pathLst>
              <a:path h="4301939" w="6254966">
                <a:moveTo>
                  <a:pt x="0" y="0"/>
                </a:moveTo>
                <a:lnTo>
                  <a:pt x="6254966" y="0"/>
                </a:lnTo>
                <a:lnTo>
                  <a:pt x="6254966" y="4301939"/>
                </a:lnTo>
                <a:lnTo>
                  <a:pt x="0" y="4301939"/>
                </a:lnTo>
                <a:lnTo>
                  <a:pt x="0" y="0"/>
                </a:lnTo>
                <a:close/>
              </a:path>
            </a:pathLst>
          </a:custGeom>
          <a:blipFill>
            <a:blip r:embed="rId2"/>
            <a:stretch>
              <a:fillRect l="0" t="0" r="0" b="0"/>
            </a:stretch>
          </a:blipFill>
        </p:spPr>
      </p:sp>
      <p:sp>
        <p:nvSpPr>
          <p:cNvPr name="TextBox 3" id="3"/>
          <p:cNvSpPr txBox="true"/>
          <p:nvPr/>
        </p:nvSpPr>
        <p:spPr>
          <a:xfrm rot="0">
            <a:off x="691053" y="700511"/>
            <a:ext cx="6014145"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Q1. Are we growing profitably, not just growing revenue?</a:t>
            </a:r>
          </a:p>
        </p:txBody>
      </p:sp>
      <p:sp>
        <p:nvSpPr>
          <p:cNvPr name="TextBox 4" id="4"/>
          <p:cNvSpPr txBox="true"/>
          <p:nvPr/>
        </p:nvSpPr>
        <p:spPr>
          <a:xfrm rot="0">
            <a:off x="575563" y="6193816"/>
            <a:ext cx="14145539" cy="91732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Net revenue grew significantly from 3.1M (2022) to 9.3M (2024), indicating strong business growth. However, revenue slightly plateaued in 2025 (9.2M), suggesting growth may be stabilizing.</a:t>
            </a:r>
          </a:p>
        </p:txBody>
      </p:sp>
      <p:sp>
        <p:nvSpPr>
          <p:cNvPr name="TextBox 5" id="5"/>
          <p:cNvSpPr txBox="true"/>
          <p:nvPr/>
        </p:nvSpPr>
        <p:spPr>
          <a:xfrm rot="0">
            <a:off x="575563" y="7418114"/>
            <a:ext cx="9411043" cy="2231594"/>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sz="2509" spc="-188">
                <a:solidFill>
                  <a:srgbClr val="FFFFFF"/>
                </a:solidFill>
                <a:latin typeface="Calibri (MS)"/>
                <a:ea typeface="Calibri (MS)"/>
                <a:cs typeface="Calibri (MS)"/>
                <a:sym typeface="Calibri (MS)"/>
              </a:rPr>
              <a:t>Gross Sales = SUM('Fact Sales'[Sales Amount])</a:t>
            </a:r>
          </a:p>
          <a:p>
            <a:pPr algn="l">
              <a:lnSpc>
                <a:spcPts val="3513"/>
              </a:lnSpc>
              <a:spcBef>
                <a:spcPct val="0"/>
              </a:spcBef>
            </a:pPr>
            <a:r>
              <a:rPr lang="en-US" sz="2509" spc="-188">
                <a:solidFill>
                  <a:srgbClr val="FFFFFF"/>
                </a:solidFill>
                <a:latin typeface="Calibri (MS)"/>
                <a:ea typeface="Calibri (MS)"/>
                <a:cs typeface="Calibri (MS)"/>
                <a:sym typeface="Calibri (MS)"/>
              </a:rPr>
              <a:t>Total Discount = SUM('Fact Sales'[Discount Amount])</a:t>
            </a:r>
          </a:p>
          <a:p>
            <a:pPr algn="l">
              <a:lnSpc>
                <a:spcPts val="3513"/>
              </a:lnSpc>
              <a:spcBef>
                <a:spcPct val="0"/>
              </a:spcBef>
            </a:pPr>
            <a:r>
              <a:rPr lang="en-US" sz="2509" spc="-188">
                <a:solidFill>
                  <a:srgbClr val="FFFFFF"/>
                </a:solidFill>
                <a:latin typeface="Calibri (MS)"/>
                <a:ea typeface="Calibri (MS)"/>
                <a:cs typeface="Calibri (MS)"/>
                <a:sym typeface="Calibri (MS)"/>
              </a:rPr>
              <a:t>Total Return Amount = SUM('Fact Returns'[Return Amount])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Net Sales = [Gross Sales] - [Total Discount] - [Total Return Amount]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966493" y="1463963"/>
            <a:ext cx="6020753" cy="4425053"/>
          </a:xfrm>
          <a:custGeom>
            <a:avLst/>
            <a:gdLst/>
            <a:ahLst/>
            <a:cxnLst/>
            <a:rect r="r" b="b" t="t" l="l"/>
            <a:pathLst>
              <a:path h="4425053" w="6020753">
                <a:moveTo>
                  <a:pt x="0" y="0"/>
                </a:moveTo>
                <a:lnTo>
                  <a:pt x="6020753" y="0"/>
                </a:lnTo>
                <a:lnTo>
                  <a:pt x="6020753" y="4425053"/>
                </a:lnTo>
                <a:lnTo>
                  <a:pt x="0" y="4425053"/>
                </a:lnTo>
                <a:lnTo>
                  <a:pt x="0" y="0"/>
                </a:lnTo>
                <a:close/>
              </a:path>
            </a:pathLst>
          </a:custGeom>
          <a:blipFill>
            <a:blip r:embed="rId2"/>
            <a:stretch>
              <a:fillRect l="0" t="0" r="0" b="0"/>
            </a:stretch>
          </a:blipFill>
        </p:spPr>
      </p:sp>
      <p:sp>
        <p:nvSpPr>
          <p:cNvPr name="TextBox 3" id="3"/>
          <p:cNvSpPr txBox="true"/>
          <p:nvPr/>
        </p:nvSpPr>
        <p:spPr>
          <a:xfrm rot="0">
            <a:off x="914084" y="746125"/>
            <a:ext cx="4754761" cy="469900"/>
          </a:xfrm>
          <a:prstGeom prst="rect">
            <a:avLst/>
          </a:prstGeom>
        </p:spPr>
        <p:txBody>
          <a:bodyPr anchor="t" rtlCol="false" tIns="0" lIns="0" bIns="0" rIns="0">
            <a:spAutoFit/>
          </a:bodyPr>
          <a:lstStyle/>
          <a:p>
            <a:pPr algn="l">
              <a:lnSpc>
                <a:spcPts val="3499"/>
              </a:lnSpc>
            </a:pPr>
            <a:r>
              <a:rPr lang="en-US" sz="2499" spc="-187">
                <a:solidFill>
                  <a:srgbClr val="FFFFFF"/>
                </a:solidFill>
                <a:latin typeface="Calibri (MS)"/>
                <a:ea typeface="Calibri (MS)"/>
                <a:cs typeface="Calibri (MS)"/>
                <a:sym typeface="Calibri (MS)"/>
              </a:rPr>
              <a:t>Q2. Is return rate increasing faster than sales?</a:t>
            </a:r>
          </a:p>
        </p:txBody>
      </p:sp>
      <p:sp>
        <p:nvSpPr>
          <p:cNvPr name="TextBox 4" id="4"/>
          <p:cNvSpPr txBox="true"/>
          <p:nvPr/>
        </p:nvSpPr>
        <p:spPr>
          <a:xfrm rot="0">
            <a:off x="575563" y="6193816"/>
            <a:ext cx="14145539" cy="91732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Return rate improved slightly in 2023, but increased sharply to 12.9% by 2025, indicating potential issues with product quality or customer expectations.</a:t>
            </a:r>
          </a:p>
        </p:txBody>
      </p:sp>
      <p:sp>
        <p:nvSpPr>
          <p:cNvPr name="TextBox 5" id="5"/>
          <p:cNvSpPr txBox="true"/>
          <p:nvPr/>
        </p:nvSpPr>
        <p:spPr>
          <a:xfrm rot="0">
            <a:off x="575563" y="7418114"/>
            <a:ext cx="9411043" cy="917255"/>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R</a:t>
            </a:r>
            <a:r>
              <a:rPr lang="en-US" b="true" sz="2509" spc="-188">
                <a:solidFill>
                  <a:srgbClr val="FFFFFF"/>
                </a:solidFill>
                <a:latin typeface="Calibri (MS) Bold"/>
                <a:ea typeface="Calibri (MS) Bold"/>
                <a:cs typeface="Calibri (MS) Bold"/>
                <a:sym typeface="Calibri (MS) Bold"/>
              </a:rPr>
              <a:t>eturn Rate = DIVIDE([Total Return],[Total Order])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107557" y="1392083"/>
            <a:ext cx="6450819" cy="4721883"/>
          </a:xfrm>
          <a:custGeom>
            <a:avLst/>
            <a:gdLst/>
            <a:ahLst/>
            <a:cxnLst/>
            <a:rect r="r" b="b" t="t" l="l"/>
            <a:pathLst>
              <a:path h="4721883" w="6450819">
                <a:moveTo>
                  <a:pt x="0" y="0"/>
                </a:moveTo>
                <a:lnTo>
                  <a:pt x="6450819" y="0"/>
                </a:lnTo>
                <a:lnTo>
                  <a:pt x="6450819" y="4721883"/>
                </a:lnTo>
                <a:lnTo>
                  <a:pt x="0" y="4721883"/>
                </a:lnTo>
                <a:lnTo>
                  <a:pt x="0" y="0"/>
                </a:lnTo>
                <a:close/>
              </a:path>
            </a:pathLst>
          </a:custGeom>
          <a:blipFill>
            <a:blip r:embed="rId2"/>
            <a:stretch>
              <a:fillRect l="0" t="0" r="0" b="0"/>
            </a:stretch>
          </a:blipFill>
        </p:spPr>
      </p:sp>
      <p:sp>
        <p:nvSpPr>
          <p:cNvPr name="TextBox 3" id="3"/>
          <p:cNvSpPr txBox="true"/>
          <p:nvPr/>
        </p:nvSpPr>
        <p:spPr>
          <a:xfrm rot="0">
            <a:off x="914084" y="746125"/>
            <a:ext cx="5103912" cy="469900"/>
          </a:xfrm>
          <a:prstGeom prst="rect">
            <a:avLst/>
          </a:prstGeom>
        </p:spPr>
        <p:txBody>
          <a:bodyPr anchor="t" rtlCol="false" tIns="0" lIns="0" bIns="0" rIns="0">
            <a:spAutoFit/>
          </a:bodyPr>
          <a:lstStyle/>
          <a:p>
            <a:pPr algn="l">
              <a:lnSpc>
                <a:spcPts val="3499"/>
              </a:lnSpc>
            </a:pPr>
            <a:r>
              <a:rPr lang="en-US" sz="2499" spc="-187">
                <a:solidFill>
                  <a:srgbClr val="FFFFFF"/>
                </a:solidFill>
                <a:latin typeface="Calibri (MS)"/>
                <a:ea typeface="Calibri (MS)"/>
                <a:cs typeface="Calibri (MS)"/>
                <a:sym typeface="Calibri (MS)"/>
              </a:rPr>
              <a:t>Q3. Are discounts and returns eroding net sales?</a:t>
            </a:r>
          </a:p>
        </p:txBody>
      </p:sp>
      <p:sp>
        <p:nvSpPr>
          <p:cNvPr name="TextBox 4" id="4"/>
          <p:cNvSpPr txBox="true"/>
          <p:nvPr/>
        </p:nvSpPr>
        <p:spPr>
          <a:xfrm rot="0">
            <a:off x="914084" y="6194904"/>
            <a:ext cx="14145539" cy="91732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Sales erosion reduced in 2023, but increased again to around 5.5% by 2025, indicating that discounts and product returns are continuing to impact net sales.</a:t>
            </a:r>
          </a:p>
        </p:txBody>
      </p:sp>
      <p:sp>
        <p:nvSpPr>
          <p:cNvPr name="TextBox 5" id="5"/>
          <p:cNvSpPr txBox="true"/>
          <p:nvPr/>
        </p:nvSpPr>
        <p:spPr>
          <a:xfrm rot="0">
            <a:off x="914084" y="7417025"/>
            <a:ext cx="9411043" cy="1355368"/>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E</a:t>
            </a:r>
            <a:r>
              <a:rPr lang="en-US" b="true" sz="2509" spc="-188">
                <a:solidFill>
                  <a:srgbClr val="FFFFFF"/>
                </a:solidFill>
                <a:latin typeface="Calibri (MS) Bold"/>
                <a:ea typeface="Calibri (MS) Bold"/>
                <a:cs typeface="Calibri (MS) Bold"/>
                <a:sym typeface="Calibri (MS) Bold"/>
              </a:rPr>
              <a:t>rosion Amount = [Total Discount]+[Total Return Amount]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Erosion % = DIVIDE([Erosion Amount], [Gross Sales])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3430237" y="1436482"/>
            <a:ext cx="9578316" cy="4944602"/>
          </a:xfrm>
          <a:custGeom>
            <a:avLst/>
            <a:gdLst/>
            <a:ahLst/>
            <a:cxnLst/>
            <a:rect r="r" b="b" t="t" l="l"/>
            <a:pathLst>
              <a:path h="4944602" w="9578316">
                <a:moveTo>
                  <a:pt x="0" y="0"/>
                </a:moveTo>
                <a:lnTo>
                  <a:pt x="9578316" y="0"/>
                </a:lnTo>
                <a:lnTo>
                  <a:pt x="9578316" y="4944602"/>
                </a:lnTo>
                <a:lnTo>
                  <a:pt x="0" y="4944602"/>
                </a:lnTo>
                <a:lnTo>
                  <a:pt x="0" y="0"/>
                </a:lnTo>
                <a:close/>
              </a:path>
            </a:pathLst>
          </a:custGeom>
          <a:blipFill>
            <a:blip r:embed="rId2"/>
            <a:stretch>
              <a:fillRect l="0" t="0" r="0" b="0"/>
            </a:stretch>
          </a:blipFill>
        </p:spPr>
      </p:sp>
      <p:sp>
        <p:nvSpPr>
          <p:cNvPr name="TextBox 3" id="3"/>
          <p:cNvSpPr txBox="true"/>
          <p:nvPr/>
        </p:nvSpPr>
        <p:spPr>
          <a:xfrm rot="0">
            <a:off x="914084" y="746125"/>
            <a:ext cx="5257354" cy="469900"/>
          </a:xfrm>
          <a:prstGeom prst="rect">
            <a:avLst/>
          </a:prstGeom>
        </p:spPr>
        <p:txBody>
          <a:bodyPr anchor="t" rtlCol="false" tIns="0" lIns="0" bIns="0" rIns="0">
            <a:spAutoFit/>
          </a:bodyPr>
          <a:lstStyle/>
          <a:p>
            <a:pPr algn="l">
              <a:lnSpc>
                <a:spcPts val="3499"/>
              </a:lnSpc>
            </a:pPr>
            <a:r>
              <a:rPr lang="en-US" sz="2499" spc="-187">
                <a:solidFill>
                  <a:srgbClr val="FFFFFF"/>
                </a:solidFill>
                <a:latin typeface="Calibri (MS)"/>
                <a:ea typeface="Calibri (MS)"/>
                <a:cs typeface="Calibri (MS)"/>
                <a:sym typeface="Calibri (MS)"/>
              </a:rPr>
              <a:t>Q4. Is average order value improving or declining?</a:t>
            </a:r>
          </a:p>
        </p:txBody>
      </p:sp>
      <p:sp>
        <p:nvSpPr>
          <p:cNvPr name="TextBox 4" id="4"/>
          <p:cNvSpPr txBox="true"/>
          <p:nvPr/>
        </p:nvSpPr>
        <p:spPr>
          <a:xfrm rot="0">
            <a:off x="914084" y="6493896"/>
            <a:ext cx="14145539" cy="91732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The value decreased continuously from 3.04K in 2022 to 0.71K in 2025. The largest drop happened between 2023 and 2024.  This indicates customers are spending less per order over time. Average order value is declining significantly year by year.</a:t>
            </a:r>
          </a:p>
        </p:txBody>
      </p:sp>
      <p:sp>
        <p:nvSpPr>
          <p:cNvPr name="TextBox 5" id="5"/>
          <p:cNvSpPr txBox="true"/>
          <p:nvPr/>
        </p:nvSpPr>
        <p:spPr>
          <a:xfrm rot="0">
            <a:off x="914084" y="7718256"/>
            <a:ext cx="9411043" cy="917255"/>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AOV = DIVIDE([Net Sales],[Total Order])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3171715" y="1378786"/>
            <a:ext cx="11146308" cy="5057124"/>
          </a:xfrm>
          <a:custGeom>
            <a:avLst/>
            <a:gdLst/>
            <a:ahLst/>
            <a:cxnLst/>
            <a:rect r="r" b="b" t="t" l="l"/>
            <a:pathLst>
              <a:path h="5057124" w="11146308">
                <a:moveTo>
                  <a:pt x="0" y="0"/>
                </a:moveTo>
                <a:lnTo>
                  <a:pt x="11146308" y="0"/>
                </a:lnTo>
                <a:lnTo>
                  <a:pt x="11146308" y="5057124"/>
                </a:lnTo>
                <a:lnTo>
                  <a:pt x="0" y="5057124"/>
                </a:lnTo>
                <a:lnTo>
                  <a:pt x="0" y="0"/>
                </a:lnTo>
                <a:close/>
              </a:path>
            </a:pathLst>
          </a:custGeom>
          <a:blipFill>
            <a:blip r:embed="rId2"/>
            <a:stretch>
              <a:fillRect l="0" t="-340" r="0" b="-340"/>
            </a:stretch>
          </a:blipFill>
        </p:spPr>
      </p:sp>
      <p:sp>
        <p:nvSpPr>
          <p:cNvPr name="TextBox 3" id="3"/>
          <p:cNvSpPr txBox="true"/>
          <p:nvPr/>
        </p:nvSpPr>
        <p:spPr>
          <a:xfrm rot="0">
            <a:off x="914084" y="746125"/>
            <a:ext cx="6022032" cy="469900"/>
          </a:xfrm>
          <a:prstGeom prst="rect">
            <a:avLst/>
          </a:prstGeom>
        </p:spPr>
        <p:txBody>
          <a:bodyPr anchor="t" rtlCol="false" tIns="0" lIns="0" bIns="0" rIns="0">
            <a:spAutoFit/>
          </a:bodyPr>
          <a:lstStyle/>
          <a:p>
            <a:pPr algn="l">
              <a:lnSpc>
                <a:spcPts val="3499"/>
              </a:lnSpc>
            </a:pPr>
            <a:r>
              <a:rPr lang="en-US" sz="2499" spc="-187">
                <a:solidFill>
                  <a:srgbClr val="FFFFFF"/>
                </a:solidFill>
                <a:latin typeface="Calibri (MS)"/>
                <a:ea typeface="Calibri (MS)"/>
                <a:cs typeface="Calibri (MS)"/>
                <a:sym typeface="Calibri (MS)"/>
              </a:rPr>
              <a:t>Q5. Which regions contribute most to net sales vs losses?</a:t>
            </a:r>
          </a:p>
        </p:txBody>
      </p:sp>
      <p:sp>
        <p:nvSpPr>
          <p:cNvPr name="TextBox 4" id="4"/>
          <p:cNvSpPr txBox="true"/>
          <p:nvPr/>
        </p:nvSpPr>
        <p:spPr>
          <a:xfrm rot="0">
            <a:off x="914084" y="6618422"/>
            <a:ext cx="14145539" cy="91732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Australia drives the most revenue with controlled losses. Germany &amp; Southwest need attention due to higher loss %. Smaller regions contribute very little to both sales and losses</a:t>
            </a:r>
          </a:p>
        </p:txBody>
      </p:sp>
      <p:sp>
        <p:nvSpPr>
          <p:cNvPr name="TextBox 5" id="5"/>
          <p:cNvSpPr txBox="true"/>
          <p:nvPr/>
        </p:nvSpPr>
        <p:spPr>
          <a:xfrm rot="0">
            <a:off x="914084" y="7718256"/>
            <a:ext cx="9411043" cy="1355368"/>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Net Sales</a:t>
            </a:r>
            <a:r>
              <a:rPr lang="en-US" b="true" sz="2509" spc="-188">
                <a:solidFill>
                  <a:srgbClr val="FFFFFF"/>
                </a:solidFill>
                <a:latin typeface="Calibri (MS) Bold"/>
                <a:ea typeface="Calibri (MS) Bold"/>
                <a:cs typeface="Calibri (MS) Bold"/>
                <a:sym typeface="Calibri (MS) Bold"/>
              </a:rPr>
              <a:t> = [Gross Sales] - [Total Discount] - [Total Return Amount]</a:t>
            </a:r>
          </a:p>
          <a:p>
            <a:pPr algn="l">
              <a:lnSpc>
                <a:spcPts val="3513"/>
              </a:lnSpc>
              <a:spcBef>
                <a:spcPct val="0"/>
              </a:spcBef>
            </a:pPr>
            <a:r>
              <a:rPr lang="en-US" b="true" sz="2509" spc="-188">
                <a:solidFill>
                  <a:srgbClr val="FFFFFF"/>
                </a:solidFill>
                <a:latin typeface="Calibri (MS) Bold"/>
                <a:ea typeface="Calibri (MS) Bold"/>
                <a:cs typeface="Calibri (MS) Bold"/>
                <a:sym typeface="Calibri (MS) Bold"/>
              </a:rPr>
              <a:t>Loss % = DIVIDE([Erosion Amount],[Gross Sales])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9278497">
            <a:off x="-5803234" y="-4205483"/>
            <a:ext cx="9966661" cy="9966661"/>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5" id="5"/>
            <p:cNvSpPr txBox="true"/>
            <p:nvPr/>
          </p:nvSpPr>
          <p:spPr>
            <a:xfrm>
              <a:off x="76200" y="819150"/>
              <a:ext cx="660400" cy="660400"/>
            </a:xfrm>
            <a:prstGeom prst="rect">
              <a:avLst/>
            </a:prstGeom>
          </p:spPr>
          <p:txBody>
            <a:bodyPr anchor="ctr" rtlCol="false" tIns="50800" lIns="50800" bIns="50800" rIns="50800"/>
            <a:lstStyle/>
            <a:p>
              <a:pPr algn="l" marL="0" indent="0" lvl="0">
                <a:lnSpc>
                  <a:spcPts val="19673"/>
                </a:lnSpc>
                <a:spcBef>
                  <a:spcPct val="0"/>
                </a:spcBef>
              </a:pPr>
            </a:p>
          </p:txBody>
        </p:sp>
      </p:grpSp>
      <p:grpSp>
        <p:nvGrpSpPr>
          <p:cNvPr name="Group 6" id="6"/>
          <p:cNvGrpSpPr/>
          <p:nvPr/>
        </p:nvGrpSpPr>
        <p:grpSpPr>
          <a:xfrm rot="-9278497">
            <a:off x="-2997112" y="-1545956"/>
            <a:ext cx="5213104" cy="5213104"/>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true">
              <a:gsLst>
                <a:gs pos="0">
                  <a:srgbClr val="FFFFFF">
                    <a:alpha val="2100"/>
                  </a:srgbClr>
                </a:gs>
                <a:gs pos="25000">
                  <a:srgbClr val="FFFFFF">
                    <a:alpha val="3000"/>
                  </a:srgbClr>
                </a:gs>
                <a:gs pos="50000">
                  <a:srgbClr val="FFFFFF">
                    <a:alpha val="2000"/>
                  </a:srgbClr>
                </a:gs>
                <a:gs pos="75000">
                  <a:srgbClr val="FFFFFF">
                    <a:alpha val="3000"/>
                  </a:srgbClr>
                </a:gs>
                <a:gs pos="100000">
                  <a:srgbClr val="FFFFFF">
                    <a:alpha val="2000"/>
                  </a:srgbClr>
                </a:gs>
              </a:gsLst>
              <a:lin ang="2700000"/>
            </a:gradFill>
            <a:ln w="19050" cap="rnd">
              <a:solidFill>
                <a:srgbClr val="FFFFFF">
                  <a:alpha val="19608"/>
                </a:srgbClr>
              </a:solidFill>
              <a:prstDash val="solid"/>
              <a:round/>
            </a:ln>
          </p:spPr>
        </p:sp>
        <p:sp>
          <p:nvSpPr>
            <p:cNvPr name="TextBox 8" id="8"/>
            <p:cNvSpPr txBox="true"/>
            <p:nvPr/>
          </p:nvSpPr>
          <p:spPr>
            <a:xfrm>
              <a:off x="76200" y="161925"/>
              <a:ext cx="660400" cy="574675"/>
            </a:xfrm>
            <a:prstGeom prst="rect">
              <a:avLst/>
            </a:prstGeom>
          </p:spPr>
          <p:txBody>
            <a:bodyPr anchor="ctr" rtlCol="false" tIns="50800" lIns="50800" bIns="50800" rIns="50800"/>
            <a:lstStyle/>
            <a:p>
              <a:pPr algn="ctr" marL="0" indent="0" lvl="0">
                <a:lnSpc>
                  <a:spcPts val="2218"/>
                </a:lnSpc>
                <a:spcBef>
                  <a:spcPct val="0"/>
                </a:spcBef>
              </a:pPr>
            </a:p>
          </p:txBody>
        </p:sp>
      </p:grpSp>
      <p:grpSp>
        <p:nvGrpSpPr>
          <p:cNvPr name="Group 9" id="9"/>
          <p:cNvGrpSpPr/>
          <p:nvPr/>
        </p:nvGrpSpPr>
        <p:grpSpPr>
          <a:xfrm rot="0">
            <a:off x="7600950" y="3600450"/>
            <a:ext cx="3086100" cy="30861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1B4F"/>
            </a:solidFill>
          </p:spPr>
        </p:sp>
        <p:sp>
          <p:nvSpPr>
            <p:cNvPr name="TextBox 11" id="11"/>
            <p:cNvSpPr txBox="true"/>
            <p:nvPr/>
          </p:nvSpPr>
          <p:spPr>
            <a:xfrm>
              <a:off x="76200" y="161925"/>
              <a:ext cx="660400" cy="574675"/>
            </a:xfrm>
            <a:prstGeom prst="rect">
              <a:avLst/>
            </a:prstGeom>
          </p:spPr>
          <p:txBody>
            <a:bodyPr anchor="ctr" rtlCol="false" tIns="50800" lIns="50800" bIns="50800" rIns="50800"/>
            <a:lstStyle/>
            <a:p>
              <a:pPr algn="ctr">
                <a:lnSpc>
                  <a:spcPts val="2218"/>
                </a:lnSpc>
              </a:pPr>
            </a:p>
          </p:txBody>
        </p:sp>
      </p:grpSp>
      <p:sp>
        <p:nvSpPr>
          <p:cNvPr name="Freeform 12" id="12"/>
          <p:cNvSpPr/>
          <p:nvPr/>
        </p:nvSpPr>
        <p:spPr>
          <a:xfrm flipH="false" flipV="false" rot="0">
            <a:off x="1028700" y="777847"/>
            <a:ext cx="16574509" cy="9219570"/>
          </a:xfrm>
          <a:custGeom>
            <a:avLst/>
            <a:gdLst/>
            <a:ahLst/>
            <a:cxnLst/>
            <a:rect r="r" b="b" t="t" l="l"/>
            <a:pathLst>
              <a:path h="9219570" w="16574509">
                <a:moveTo>
                  <a:pt x="0" y="0"/>
                </a:moveTo>
                <a:lnTo>
                  <a:pt x="16574509" y="0"/>
                </a:lnTo>
                <a:lnTo>
                  <a:pt x="16574509" y="9219571"/>
                </a:lnTo>
                <a:lnTo>
                  <a:pt x="0" y="9219571"/>
                </a:lnTo>
                <a:lnTo>
                  <a:pt x="0" y="0"/>
                </a:lnTo>
                <a:close/>
              </a:path>
            </a:pathLst>
          </a:custGeom>
          <a:blipFill>
            <a:blip r:embed="rId3"/>
            <a:stretch>
              <a:fillRect l="0" t="0" r="0" b="0"/>
            </a:stretch>
          </a:blipFill>
        </p:spPr>
      </p:sp>
      <p:sp>
        <p:nvSpPr>
          <p:cNvPr name="TextBox 13" id="13"/>
          <p:cNvSpPr txBox="true"/>
          <p:nvPr/>
        </p:nvSpPr>
        <p:spPr>
          <a:xfrm rot="0">
            <a:off x="6859802" y="166889"/>
            <a:ext cx="5522139" cy="381381"/>
          </a:xfrm>
          <a:prstGeom prst="rect">
            <a:avLst/>
          </a:prstGeom>
        </p:spPr>
        <p:txBody>
          <a:bodyPr anchor="t" rtlCol="false" tIns="0" lIns="0" bIns="0" rIns="0">
            <a:spAutoFit/>
          </a:bodyPr>
          <a:lstStyle/>
          <a:p>
            <a:pPr algn="r">
              <a:lnSpc>
                <a:spcPts val="3041"/>
              </a:lnSpc>
            </a:pPr>
            <a:r>
              <a:rPr lang="en-US" b="true" sz="2599" spc="-109">
                <a:solidFill>
                  <a:srgbClr val="FFFFFF"/>
                </a:solidFill>
                <a:latin typeface="Open Sauce Bold"/>
                <a:ea typeface="Open Sauce Bold"/>
                <a:cs typeface="Open Sauce Bold"/>
                <a:sym typeface="Open Sauce Bold"/>
              </a:rPr>
              <a:t>📈 Sales Trend &amp; Seasonality Sales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2167955" y="1498624"/>
            <a:ext cx="12301673" cy="4459356"/>
          </a:xfrm>
          <a:custGeom>
            <a:avLst/>
            <a:gdLst/>
            <a:ahLst/>
            <a:cxnLst/>
            <a:rect r="r" b="b" t="t" l="l"/>
            <a:pathLst>
              <a:path h="4459356" w="12301673">
                <a:moveTo>
                  <a:pt x="0" y="0"/>
                </a:moveTo>
                <a:lnTo>
                  <a:pt x="12301673" y="0"/>
                </a:lnTo>
                <a:lnTo>
                  <a:pt x="12301673" y="4459356"/>
                </a:lnTo>
                <a:lnTo>
                  <a:pt x="0" y="4459356"/>
                </a:lnTo>
                <a:lnTo>
                  <a:pt x="0" y="0"/>
                </a:lnTo>
                <a:close/>
              </a:path>
            </a:pathLst>
          </a:custGeom>
          <a:blipFill>
            <a:blip r:embed="rId2"/>
            <a:stretch>
              <a:fillRect l="0" t="0" r="0" b="0"/>
            </a:stretch>
          </a:blipFill>
        </p:spPr>
      </p:sp>
      <p:sp>
        <p:nvSpPr>
          <p:cNvPr name="TextBox 3" id="3"/>
          <p:cNvSpPr txBox="true"/>
          <p:nvPr/>
        </p:nvSpPr>
        <p:spPr>
          <a:xfrm rot="0">
            <a:off x="699685" y="700511"/>
            <a:ext cx="5996880"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Q6. Which months consistently perform best and worst?</a:t>
            </a:r>
          </a:p>
        </p:txBody>
      </p:sp>
      <p:sp>
        <p:nvSpPr>
          <p:cNvPr name="TextBox 4" id="4"/>
          <p:cNvSpPr txBox="true"/>
          <p:nvPr/>
        </p:nvSpPr>
        <p:spPr>
          <a:xfrm rot="0">
            <a:off x="575563" y="6193816"/>
            <a:ext cx="14145539" cy="917321"/>
          </a:xfrm>
          <a:prstGeom prst="rect">
            <a:avLst/>
          </a:prstGeom>
        </p:spPr>
        <p:txBody>
          <a:bodyPr anchor="t" rtlCol="false" tIns="0" lIns="0" bIns="0" rIns="0">
            <a:spAutoFit/>
          </a:bodyPr>
          <a:lstStyle/>
          <a:p>
            <a:pPr algn="l">
              <a:lnSpc>
                <a:spcPts val="3514"/>
              </a:lnSpc>
            </a:pPr>
            <a:r>
              <a:rPr lang="en-US" sz="2510" spc="-188">
                <a:solidFill>
                  <a:srgbClr val="FFFFFF"/>
                </a:solidFill>
                <a:latin typeface="Calibri (MS)"/>
                <a:ea typeface="Calibri (MS)"/>
                <a:cs typeface="Calibri (MS)"/>
                <a:sym typeface="Calibri (MS)"/>
              </a:rPr>
              <a:t>Best: May &amp; June (peak ~3M) and December (recovery spike). </a:t>
            </a:r>
          </a:p>
          <a:p>
            <a:pPr algn="l">
              <a:lnSpc>
                <a:spcPts val="3514"/>
              </a:lnSpc>
              <a:spcBef>
                <a:spcPct val="0"/>
              </a:spcBef>
            </a:pPr>
            <a:r>
              <a:rPr lang="en-US" sz="2510" spc="-188">
                <a:solidFill>
                  <a:srgbClr val="FFFFFF"/>
                </a:solidFill>
                <a:latin typeface="Calibri (MS)"/>
                <a:ea typeface="Calibri (MS)"/>
                <a:cs typeface="Calibri (MS)"/>
                <a:sym typeface="Calibri (MS)"/>
              </a:rPr>
              <a:t> Worst: July–September (~1.7–1.8M) showing a clear dip after peak months.</a:t>
            </a:r>
          </a:p>
        </p:txBody>
      </p:sp>
      <p:sp>
        <p:nvSpPr>
          <p:cNvPr name="TextBox 5" id="5"/>
          <p:cNvSpPr txBox="true"/>
          <p:nvPr/>
        </p:nvSpPr>
        <p:spPr>
          <a:xfrm rot="0">
            <a:off x="575563" y="7418114"/>
            <a:ext cx="9411043" cy="917255"/>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sz="2509" spc="-188">
                <a:solidFill>
                  <a:srgbClr val="FFFFFF"/>
                </a:solidFill>
                <a:latin typeface="Calibri (MS)"/>
                <a:ea typeface="Calibri (MS)"/>
                <a:cs typeface="Calibri (MS)"/>
                <a:sym typeface="Calibri (MS)"/>
              </a:rPr>
              <a:t>Net Sales = [Gross Sales] - [Total Discount] - [Total Return Amount]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TextBox 2" id="2"/>
          <p:cNvSpPr txBox="true"/>
          <p:nvPr/>
        </p:nvSpPr>
        <p:spPr>
          <a:xfrm rot="0">
            <a:off x="871726" y="707602"/>
            <a:ext cx="4598491"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Q7. Are sales patterns seasonal or random?</a:t>
            </a:r>
          </a:p>
        </p:txBody>
      </p:sp>
      <p:sp>
        <p:nvSpPr>
          <p:cNvPr name="TextBox 3" id="3"/>
          <p:cNvSpPr txBox="true"/>
          <p:nvPr/>
        </p:nvSpPr>
        <p:spPr>
          <a:xfrm rot="0">
            <a:off x="575563" y="6314308"/>
            <a:ext cx="14145539" cy="47917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Clearly seasonal → steady growth from Jan → June, sharp drop in mid-year (Jul–Sep), then recovery towards year-end. Not random.</a:t>
            </a:r>
          </a:p>
        </p:txBody>
      </p:sp>
      <p:sp>
        <p:nvSpPr>
          <p:cNvPr name="TextBox 4" id="4"/>
          <p:cNvSpPr txBox="true"/>
          <p:nvPr/>
        </p:nvSpPr>
        <p:spPr>
          <a:xfrm rot="0">
            <a:off x="575563" y="7508483"/>
            <a:ext cx="9411043" cy="917330"/>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sz="2509" spc="-188">
                <a:solidFill>
                  <a:srgbClr val="FFFFFF"/>
                </a:solidFill>
                <a:latin typeface="Calibri (MS)"/>
                <a:ea typeface="Calibri (MS)"/>
                <a:cs typeface="Calibri (MS)"/>
                <a:sym typeface="Calibri (MS)"/>
              </a:rPr>
              <a:t>Net Sales = [Gross Sales] - [Total Discount] - [Total Return Amount]</a:t>
            </a:r>
          </a:p>
        </p:txBody>
      </p:sp>
      <p:sp>
        <p:nvSpPr>
          <p:cNvPr name="Freeform 5" id="5"/>
          <p:cNvSpPr/>
          <p:nvPr/>
        </p:nvSpPr>
        <p:spPr>
          <a:xfrm flipH="false" flipV="false" rot="0">
            <a:off x="2419429" y="1508368"/>
            <a:ext cx="12301673" cy="4459356"/>
          </a:xfrm>
          <a:custGeom>
            <a:avLst/>
            <a:gdLst/>
            <a:ahLst/>
            <a:cxnLst/>
            <a:rect r="r" b="b" t="t" l="l"/>
            <a:pathLst>
              <a:path h="4459356" w="12301673">
                <a:moveTo>
                  <a:pt x="0" y="0"/>
                </a:moveTo>
                <a:lnTo>
                  <a:pt x="12301673" y="0"/>
                </a:lnTo>
                <a:lnTo>
                  <a:pt x="12301673" y="4459357"/>
                </a:lnTo>
                <a:lnTo>
                  <a:pt x="0" y="4459357"/>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75563" y="1396765"/>
            <a:ext cx="11301259" cy="4492250"/>
          </a:xfrm>
          <a:custGeom>
            <a:avLst/>
            <a:gdLst/>
            <a:ahLst/>
            <a:cxnLst/>
            <a:rect r="r" b="b" t="t" l="l"/>
            <a:pathLst>
              <a:path h="4492250" w="11301259">
                <a:moveTo>
                  <a:pt x="0" y="0"/>
                </a:moveTo>
                <a:lnTo>
                  <a:pt x="11301259" y="0"/>
                </a:lnTo>
                <a:lnTo>
                  <a:pt x="11301259" y="4492251"/>
                </a:lnTo>
                <a:lnTo>
                  <a:pt x="0" y="4492251"/>
                </a:lnTo>
                <a:lnTo>
                  <a:pt x="0" y="0"/>
                </a:lnTo>
                <a:close/>
              </a:path>
            </a:pathLst>
          </a:custGeom>
          <a:blipFill>
            <a:blip r:embed="rId2"/>
            <a:stretch>
              <a:fillRect l="0" t="0" r="0" b="0"/>
            </a:stretch>
          </a:blipFill>
        </p:spPr>
      </p:sp>
      <p:sp>
        <p:nvSpPr>
          <p:cNvPr name="Freeform 3" id="3"/>
          <p:cNvSpPr/>
          <p:nvPr/>
        </p:nvSpPr>
        <p:spPr>
          <a:xfrm flipH="false" flipV="false" rot="0">
            <a:off x="12029680" y="1758242"/>
            <a:ext cx="6102851" cy="4020468"/>
          </a:xfrm>
          <a:custGeom>
            <a:avLst/>
            <a:gdLst/>
            <a:ahLst/>
            <a:cxnLst/>
            <a:rect r="r" b="b" t="t" l="l"/>
            <a:pathLst>
              <a:path h="4020468" w="6102851">
                <a:moveTo>
                  <a:pt x="0" y="0"/>
                </a:moveTo>
                <a:lnTo>
                  <a:pt x="6102852" y="0"/>
                </a:lnTo>
                <a:lnTo>
                  <a:pt x="6102852" y="4020468"/>
                </a:lnTo>
                <a:lnTo>
                  <a:pt x="0" y="4020468"/>
                </a:lnTo>
                <a:lnTo>
                  <a:pt x="0" y="0"/>
                </a:lnTo>
                <a:close/>
              </a:path>
            </a:pathLst>
          </a:custGeom>
          <a:blipFill>
            <a:blip r:embed="rId3"/>
            <a:stretch>
              <a:fillRect l="-2135" t="-807" r="-2135" b="0"/>
            </a:stretch>
          </a:blipFill>
        </p:spPr>
      </p:sp>
      <p:sp>
        <p:nvSpPr>
          <p:cNvPr name="TextBox 4" id="4"/>
          <p:cNvSpPr txBox="true"/>
          <p:nvPr/>
        </p:nvSpPr>
        <p:spPr>
          <a:xfrm rot="0">
            <a:off x="0" y="700511"/>
            <a:ext cx="9144000"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Q8. Do external factors (temperature, weekdays/weekends) impact sales?</a:t>
            </a:r>
          </a:p>
        </p:txBody>
      </p:sp>
      <p:sp>
        <p:nvSpPr>
          <p:cNvPr name="TextBox 5" id="5"/>
          <p:cNvSpPr txBox="true"/>
          <p:nvPr/>
        </p:nvSpPr>
        <p:spPr>
          <a:xfrm rot="0">
            <a:off x="575563" y="6193816"/>
            <a:ext cx="14145539" cy="917321"/>
          </a:xfrm>
          <a:prstGeom prst="rect">
            <a:avLst/>
          </a:prstGeom>
        </p:spPr>
        <p:txBody>
          <a:bodyPr anchor="t" rtlCol="false" tIns="0" lIns="0" bIns="0" rIns="0">
            <a:spAutoFit/>
          </a:bodyPr>
          <a:lstStyle/>
          <a:p>
            <a:pPr algn="l">
              <a:lnSpc>
                <a:spcPts val="3514"/>
              </a:lnSpc>
            </a:pPr>
            <a:r>
              <a:rPr lang="en-US" sz="2510" spc="-188">
                <a:solidFill>
                  <a:srgbClr val="FFFFFF"/>
                </a:solidFill>
                <a:latin typeface="Calibri (MS)"/>
                <a:ea typeface="Calibri (MS)"/>
                <a:cs typeface="Calibri (MS)"/>
                <a:sym typeface="Calibri (MS)"/>
              </a:rPr>
              <a:t>Yes → Warm temperature contributes highest sales (~11.9M). </a:t>
            </a:r>
          </a:p>
          <a:p>
            <a:pPr algn="l">
              <a:lnSpc>
                <a:spcPts val="3514"/>
              </a:lnSpc>
              <a:spcBef>
                <a:spcPct val="0"/>
              </a:spcBef>
            </a:pPr>
            <a:r>
              <a:rPr lang="en-US" sz="2510" spc="-188">
                <a:solidFill>
                  <a:srgbClr val="FFFFFF"/>
                </a:solidFill>
                <a:latin typeface="Calibri (MS)"/>
                <a:ea typeface="Calibri (MS)"/>
                <a:cs typeface="Calibri (MS)"/>
                <a:sym typeface="Calibri (MS)"/>
              </a:rPr>
              <a:t> Weekdays (~72%) dominate vs weekends (~28%), especially Thu–Fri peaks.</a:t>
            </a:r>
          </a:p>
        </p:txBody>
      </p:sp>
      <p:sp>
        <p:nvSpPr>
          <p:cNvPr name="TextBox 6" id="6"/>
          <p:cNvSpPr txBox="true"/>
          <p:nvPr/>
        </p:nvSpPr>
        <p:spPr>
          <a:xfrm rot="0">
            <a:off x="575563" y="7418114"/>
            <a:ext cx="9411043" cy="917255"/>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sz="2509" spc="-188">
                <a:solidFill>
                  <a:srgbClr val="FFFFFF"/>
                </a:solidFill>
                <a:latin typeface="Calibri (MS)"/>
                <a:ea typeface="Calibri (MS)"/>
                <a:cs typeface="Calibri (MS)"/>
                <a:sym typeface="Calibri (MS)"/>
              </a:rPr>
              <a:t>d</a:t>
            </a:r>
            <a:r>
              <a:rPr lang="en-US" sz="2509" spc="-188">
                <a:solidFill>
                  <a:srgbClr val="FFFFFF"/>
                </a:solidFill>
                <a:latin typeface="Calibri (MS)"/>
                <a:ea typeface="Calibri (MS)"/>
                <a:cs typeface="Calibri (MS)"/>
                <a:sym typeface="Calibri (MS)"/>
              </a:rPr>
              <a:t>ay_type = IF(WEEKDAY(Dates[Date],2) &lt;= 5, "WeekDay","WeekEnd")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2755355" y="1564063"/>
            <a:ext cx="12488555" cy="4368937"/>
          </a:xfrm>
          <a:custGeom>
            <a:avLst/>
            <a:gdLst/>
            <a:ahLst/>
            <a:cxnLst/>
            <a:rect r="r" b="b" t="t" l="l"/>
            <a:pathLst>
              <a:path h="4368937" w="12488555">
                <a:moveTo>
                  <a:pt x="0" y="0"/>
                </a:moveTo>
                <a:lnTo>
                  <a:pt x="12488555" y="0"/>
                </a:lnTo>
                <a:lnTo>
                  <a:pt x="12488555" y="4368937"/>
                </a:lnTo>
                <a:lnTo>
                  <a:pt x="0" y="4368937"/>
                </a:lnTo>
                <a:lnTo>
                  <a:pt x="0" y="0"/>
                </a:lnTo>
                <a:close/>
              </a:path>
            </a:pathLst>
          </a:custGeom>
          <a:blipFill>
            <a:blip r:embed="rId2"/>
            <a:stretch>
              <a:fillRect l="0" t="0" r="0" b="-1833"/>
            </a:stretch>
          </a:blipFill>
        </p:spPr>
      </p:sp>
      <p:sp>
        <p:nvSpPr>
          <p:cNvPr name="TextBox 3" id="3"/>
          <p:cNvSpPr txBox="true"/>
          <p:nvPr/>
        </p:nvSpPr>
        <p:spPr>
          <a:xfrm rot="0">
            <a:off x="959242" y="700511"/>
            <a:ext cx="5477768"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Q9. When should we plan promotions and staffing?</a:t>
            </a:r>
          </a:p>
        </p:txBody>
      </p:sp>
      <p:sp>
        <p:nvSpPr>
          <p:cNvPr name="TextBox 4" id="4"/>
          <p:cNvSpPr txBox="true"/>
          <p:nvPr/>
        </p:nvSpPr>
        <p:spPr>
          <a:xfrm rot="0">
            <a:off x="816547" y="6464923"/>
            <a:ext cx="14145539" cy="917321"/>
          </a:xfrm>
          <a:prstGeom prst="rect">
            <a:avLst/>
          </a:prstGeom>
        </p:spPr>
        <p:txBody>
          <a:bodyPr anchor="t" rtlCol="false" tIns="0" lIns="0" bIns="0" rIns="0">
            <a:spAutoFit/>
          </a:bodyPr>
          <a:lstStyle/>
          <a:p>
            <a:pPr algn="l">
              <a:lnSpc>
                <a:spcPts val="3514"/>
              </a:lnSpc>
            </a:pPr>
            <a:r>
              <a:rPr lang="en-US" sz="2510" spc="-188">
                <a:solidFill>
                  <a:srgbClr val="FFFFFF"/>
                </a:solidFill>
                <a:latin typeface="Calibri (MS)"/>
                <a:ea typeface="Calibri (MS)"/>
                <a:cs typeface="Calibri (MS)"/>
                <a:sym typeface="Calibri (MS)"/>
              </a:rPr>
              <a:t>High demand (May–June, Dec): increase staffing, ensure availability. </a:t>
            </a:r>
          </a:p>
          <a:p>
            <a:pPr algn="l">
              <a:lnSpc>
                <a:spcPts val="3514"/>
              </a:lnSpc>
              <a:spcBef>
                <a:spcPct val="0"/>
              </a:spcBef>
            </a:pPr>
            <a:r>
              <a:rPr lang="en-US" sz="2510" spc="-188">
                <a:solidFill>
                  <a:srgbClr val="FFFFFF"/>
                </a:solidFill>
                <a:latin typeface="Calibri (MS)"/>
                <a:ea typeface="Calibri (MS)"/>
                <a:cs typeface="Calibri (MS)"/>
                <a:sym typeface="Calibri (MS)"/>
              </a:rPr>
              <a:t>Low demand (Jul–Sep): push promotions/discounts to boost sales.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E0637"/>
        </a:solidFill>
      </p:bgPr>
    </p:bg>
    <p:spTree>
      <p:nvGrpSpPr>
        <p:cNvPr id="1" name=""/>
        <p:cNvGrpSpPr/>
        <p:nvPr/>
      </p:nvGrpSpPr>
      <p:grpSpPr>
        <a:xfrm>
          <a:off x="0" y="0"/>
          <a:ext cx="0" cy="0"/>
          <a:chOff x="0" y="0"/>
          <a:chExt cx="0" cy="0"/>
        </a:xfrm>
      </p:grpSpPr>
      <p:sp>
        <p:nvSpPr>
          <p:cNvPr name="Freeform 2" id="2"/>
          <p:cNvSpPr/>
          <p:nvPr/>
        </p:nvSpPr>
        <p:spPr>
          <a:xfrm flipH="false" flipV="false" rot="0">
            <a:off x="5115252" y="1318846"/>
            <a:ext cx="6806459" cy="4782183"/>
          </a:xfrm>
          <a:custGeom>
            <a:avLst/>
            <a:gdLst/>
            <a:ahLst/>
            <a:cxnLst/>
            <a:rect r="r" b="b" t="t" l="l"/>
            <a:pathLst>
              <a:path h="4782183" w="6806459">
                <a:moveTo>
                  <a:pt x="0" y="0"/>
                </a:moveTo>
                <a:lnTo>
                  <a:pt x="6806459" y="0"/>
                </a:lnTo>
                <a:lnTo>
                  <a:pt x="6806459" y="4782182"/>
                </a:lnTo>
                <a:lnTo>
                  <a:pt x="0" y="4782182"/>
                </a:lnTo>
                <a:lnTo>
                  <a:pt x="0" y="0"/>
                </a:lnTo>
                <a:close/>
              </a:path>
            </a:pathLst>
          </a:custGeom>
          <a:blipFill>
            <a:blip r:embed="rId2"/>
            <a:stretch>
              <a:fillRect l="0" t="0" r="0" b="0"/>
            </a:stretch>
          </a:blipFill>
        </p:spPr>
      </p:sp>
      <p:sp>
        <p:nvSpPr>
          <p:cNvPr name="TextBox 3" id="3"/>
          <p:cNvSpPr txBox="true"/>
          <p:nvPr/>
        </p:nvSpPr>
        <p:spPr>
          <a:xfrm rot="0">
            <a:off x="575563" y="558800"/>
            <a:ext cx="7286476" cy="469900"/>
          </a:xfrm>
          <a:prstGeom prst="rect">
            <a:avLst/>
          </a:prstGeom>
        </p:spPr>
        <p:txBody>
          <a:bodyPr anchor="t" rtlCol="false" tIns="0" lIns="0" bIns="0" rIns="0">
            <a:spAutoFit/>
          </a:bodyPr>
          <a:lstStyle/>
          <a:p>
            <a:pPr algn="ctr">
              <a:lnSpc>
                <a:spcPts val="3499"/>
              </a:lnSpc>
              <a:spcBef>
                <a:spcPct val="0"/>
              </a:spcBef>
            </a:pPr>
            <a:r>
              <a:rPr lang="en-US" sz="2499" spc="-187">
                <a:solidFill>
                  <a:srgbClr val="FFFFFF"/>
                </a:solidFill>
                <a:latin typeface="Calibri (MS)"/>
                <a:ea typeface="Calibri (MS)"/>
                <a:cs typeface="Calibri (MS)"/>
                <a:sym typeface="Calibri (MS)"/>
              </a:rPr>
              <a:t>Q10. Are recent trends improving or declining compared to last year?</a:t>
            </a:r>
          </a:p>
        </p:txBody>
      </p:sp>
      <p:sp>
        <p:nvSpPr>
          <p:cNvPr name="TextBox 4" id="4"/>
          <p:cNvSpPr txBox="true"/>
          <p:nvPr/>
        </p:nvSpPr>
        <p:spPr>
          <a:xfrm rot="0">
            <a:off x="575563" y="6389616"/>
            <a:ext cx="14145539" cy="479171"/>
          </a:xfrm>
          <a:prstGeom prst="rect">
            <a:avLst/>
          </a:prstGeom>
        </p:spPr>
        <p:txBody>
          <a:bodyPr anchor="t" rtlCol="false" tIns="0" lIns="0" bIns="0" rIns="0">
            <a:spAutoFit/>
          </a:bodyPr>
          <a:lstStyle/>
          <a:p>
            <a:pPr algn="l">
              <a:lnSpc>
                <a:spcPts val="3514"/>
              </a:lnSpc>
              <a:spcBef>
                <a:spcPct val="0"/>
              </a:spcBef>
            </a:pPr>
            <a:r>
              <a:rPr lang="en-US" sz="2510" spc="-188">
                <a:solidFill>
                  <a:srgbClr val="FFFFFF"/>
                </a:solidFill>
                <a:latin typeface="Calibri (MS)"/>
                <a:ea typeface="Calibri (MS)"/>
                <a:cs typeface="Calibri (MS)"/>
                <a:sym typeface="Calibri (MS)"/>
              </a:rPr>
              <a:t>Strong upward trend → Orders increased from ~1K (2022) to ~13K (2025), showing consistent growth and improving performance.</a:t>
            </a:r>
          </a:p>
        </p:txBody>
      </p:sp>
      <p:sp>
        <p:nvSpPr>
          <p:cNvPr name="TextBox 5" id="5"/>
          <p:cNvSpPr txBox="true"/>
          <p:nvPr/>
        </p:nvSpPr>
        <p:spPr>
          <a:xfrm rot="0">
            <a:off x="575563" y="7418114"/>
            <a:ext cx="9411043" cy="917255"/>
          </a:xfrm>
          <a:prstGeom prst="rect">
            <a:avLst/>
          </a:prstGeom>
        </p:spPr>
        <p:txBody>
          <a:bodyPr anchor="t" rtlCol="false" tIns="0" lIns="0" bIns="0" rIns="0">
            <a:spAutoFit/>
          </a:bodyPr>
          <a:lstStyle/>
          <a:p>
            <a:pPr algn="l">
              <a:lnSpc>
                <a:spcPts val="3513"/>
              </a:lnSpc>
            </a:pPr>
            <a:r>
              <a:rPr lang="en-US" sz="2509" spc="-188" u="sng">
                <a:solidFill>
                  <a:srgbClr val="FFFFFF"/>
                </a:solidFill>
                <a:latin typeface="Calibri (MS)"/>
                <a:ea typeface="Calibri (MS)"/>
                <a:cs typeface="Calibri (MS)"/>
                <a:sym typeface="Calibri (MS)"/>
              </a:rPr>
              <a:t>Dax Measure - &gt;</a:t>
            </a:r>
          </a:p>
          <a:p>
            <a:pPr algn="l">
              <a:lnSpc>
                <a:spcPts val="3513"/>
              </a:lnSpc>
              <a:spcBef>
                <a:spcPct val="0"/>
              </a:spcBef>
            </a:pPr>
            <a:r>
              <a:rPr lang="en-US" sz="2509" spc="-188">
                <a:solidFill>
                  <a:srgbClr val="FFFFFF"/>
                </a:solidFill>
                <a:latin typeface="Calibri (MS)"/>
                <a:ea typeface="Calibri (MS)"/>
                <a:cs typeface="Calibri (MS)"/>
                <a:sym typeface="Calibri (MS)"/>
              </a:rPr>
              <a:t>T</a:t>
            </a:r>
            <a:r>
              <a:rPr lang="en-US" sz="2509" spc="-188">
                <a:solidFill>
                  <a:srgbClr val="FFFFFF"/>
                </a:solidFill>
                <a:latin typeface="Calibri (MS)"/>
                <a:ea typeface="Calibri (MS)"/>
                <a:cs typeface="Calibri (MS)"/>
                <a:sym typeface="Calibri (MS)"/>
              </a:rPr>
              <a:t>otal Order = DISTINCTCOUNT('Fact Sales'[Sales Order Number])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DAHDROF6FC4</dc:identifier>
  <dcterms:modified xsi:type="dcterms:W3CDTF">2011-08-01T06:04:30Z</dcterms:modified>
  <cp:revision>1</cp:revision>
  <dc:title>Executive Summary</dc:title>
</cp:coreProperties>
</file>